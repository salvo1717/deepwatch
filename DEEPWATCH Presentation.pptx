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Inter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Inter-bold.fntdata"/><Relationship Id="rId23" Type="http://schemas.openxmlformats.org/officeDocument/2006/relationships/font" Target="fonts/Int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Italic.fntdata"/><Relationship Id="rId25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10" Type="http://schemas.openxmlformats.org/officeDocument/2006/relationships/image" Target="../media/image9.png"/><Relationship Id="rId9" Type="http://schemas.openxmlformats.org/officeDocument/2006/relationships/image" Target="../media/image23.png"/><Relationship Id="rId5" Type="http://schemas.openxmlformats.org/officeDocument/2006/relationships/image" Target="../media/image8.png"/><Relationship Id="rId6" Type="http://schemas.openxmlformats.org/officeDocument/2006/relationships/image" Target="../media/image16.png"/><Relationship Id="rId7" Type="http://schemas.openxmlformats.org/officeDocument/2006/relationships/image" Target="../media/image19.png"/><Relationship Id="rId8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6.png"/><Relationship Id="rId5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25.png"/><Relationship Id="rId6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5276" y="2593627"/>
            <a:ext cx="11581447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DEEPWATCH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3708052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Architettura di Visione Artificiale per la Sicurezza Aziendale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715000" y="2418457"/>
            <a:ext cx="76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1965483" y="2742307"/>
            <a:ext cx="8261032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Oltre la Videosorveglianza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286000" y="3628132"/>
            <a:ext cx="7620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Il monitoraggio umano continuativo genera fatica e ritardi. Le moderne infrastrutture richiedono proattività e analisi automatizzata in tempo reale.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62162"/>
            <a:ext cx="5276850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62162"/>
            <a:ext cx="5276850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859154" y="2452687"/>
            <a:ext cx="472059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Sorveglianza Tradizionale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971550" y="3138487"/>
            <a:ext cx="4495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Dipendenza totale dall'attenzione umana, rapido decadimento della concentrazione (fatica cognitiva) e risposta passiva post-evento (analisi a posteriori).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971550" y="4500562"/>
            <a:ext cx="449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Scalabilità limitata all'assunzione di nuovo personale.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612255" y="2452687"/>
            <a:ext cx="472059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L'Approccio DeepWatch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724650" y="3138487"/>
            <a:ext cx="449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Analisi automatizzata H24 tramite reti neurali. Identificazione istantanea delle intrusioni con allarmi tempestivi alla control room.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724650" y="4195762"/>
            <a:ext cx="449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Facile integrazione di decine di flussi video concorrenti.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Evoluzione del Monitoraggio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581025" y="581025"/>
            <a:ext cx="5540692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Il Motore AI</a:t>
            </a:r>
            <a:endParaRPr/>
          </a:p>
        </p:txBody>
      </p:sp>
      <p:pic>
        <p:nvPicPr>
          <p:cNvPr descr="image.png" id="115" name="Google Shape;11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9525"/>
            <a:ext cx="58483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581025" y="2538412"/>
            <a:ext cx="554069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Affidabilità YOLOv8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581025" y="3052762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DeepWatch utilizza il modello state-of-the-art "You Only Look Once" (v8) per l'identificazione spaziale.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581025" y="3805237"/>
            <a:ext cx="52768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Garantisce all'azienda una precisione millimetrica e latenze inferiori ai 20 millisecondi, rendendo l'analisi video compatibile con le esigenze aziendali di intervento immediato.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43112"/>
            <a:ext cx="52768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 txBox="1"/>
          <p:nvPr/>
        </p:nvSpPr>
        <p:spPr>
          <a:xfrm>
            <a:off x="581025" y="2043112"/>
            <a:ext cx="554069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Separazione dei Processi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581025" y="2538412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 un software aziendale, un blocco (freeze) dell'interfaccia non è tollerabile. DeepWatch implementa il multithreading avanzato.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581025" y="3595687"/>
            <a:ext cx="52768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Il calcolo neurale intensivo viene separato nettamente dall'Interfaccia Grafica (PyQt6). L'operatore mantiene il pieno controllo fluido del sistema mentre l'Intelligenza Artificiale opera silenziosamente in background.</a:t>
            </a:r>
            <a:endParaRPr/>
          </a:p>
        </p:txBody>
      </p:sp>
      <p:pic>
        <p:nvPicPr>
          <p:cNvPr descr="image.png" id="128" name="Google Shape;12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52637"/>
            <a:ext cx="52578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Architettura Asincrona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 txBox="1"/>
          <p:nvPr/>
        </p:nvSpPr>
        <p:spPr>
          <a:xfrm>
            <a:off x="1809750" y="2276475"/>
            <a:ext cx="904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Code Thread-Safe: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Lo scambio dei frame (da telecamera a motore AI) avviene tramite strutture dati concorrenti progettate per impedire collisioni o corruzioni di memoria, garantendo stabilità H24.</a:t>
            </a:r>
            <a:endParaRPr/>
          </a:p>
        </p:txBody>
      </p:sp>
      <p:sp>
        <p:nvSpPr>
          <p:cNvPr id="136" name="Google Shape;136;p18"/>
          <p:cNvSpPr txBox="1"/>
          <p:nvPr/>
        </p:nvSpPr>
        <p:spPr>
          <a:xfrm>
            <a:off x="1809750" y="3429000"/>
            <a:ext cx="904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Daemon Mode Operativo: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Le aziende posseggono molte più telecamere di quelle visibili a schermo. I processi "Daemon" monitorano le sorgenti video oscurate con un impatto minimo sulla CPU, segnalando le intrusioni solo quando necessario.</a:t>
            </a:r>
            <a:endParaRPr/>
          </a:p>
        </p:txBody>
      </p:sp>
      <p:sp>
        <p:nvSpPr>
          <p:cNvPr id="137" name="Google Shape;137;p18"/>
          <p:cNvSpPr txBox="1"/>
          <p:nvPr/>
        </p:nvSpPr>
        <p:spPr>
          <a:xfrm>
            <a:off x="1809750" y="4581525"/>
            <a:ext cx="904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Scalabilità Istantanea: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L'infrastruttura modulare permette di aggiungere nuovi flussi IP in diretta senza dover riavviare l'intero ecosistema di sicurezza.</a:t>
            </a:r>
            <a:endParaRPr/>
          </a:p>
        </p:txBody>
      </p:sp>
      <p:pic>
        <p:nvPicPr>
          <p:cNvPr descr="image.png" id="138" name="Google Shape;13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290762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3443287"/>
            <a:ext cx="2000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4595812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Gestione Multi-Stream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2575" y="2185987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>
            <a:off x="6334125" y="2395537"/>
            <a:ext cx="554069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Perdita di Dettaglio</a:t>
            </a: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6334125" y="2890837"/>
            <a:ext cx="52768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 maggior parte delle intrusioni aziendali avviene in contesti critici con scarsa luminosità. L'assenza di luce induce i sensori digitali a generare forte rumore elettronico.</a:t>
            </a: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6334125" y="4252912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Le reti neurali standard perdono affidabilità su frame degradati, abbassando drasticamente le percentuali di rilevamento e generando "falsi negativi" inaccettabili.</a:t>
            </a:r>
            <a:endParaRPr/>
          </a:p>
        </p:txBody>
      </p:sp>
      <p:pic>
        <p:nvPicPr>
          <p:cNvPr descr="image.png" id="151" name="Google Shape;15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90675" y="2224087"/>
            <a:ext cx="3257550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La Sfida Notturna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43112"/>
            <a:ext cx="52768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0"/>
          <p:cNvSpPr txBox="1"/>
          <p:nvPr/>
        </p:nvSpPr>
        <p:spPr>
          <a:xfrm>
            <a:off x="581025" y="2043112"/>
            <a:ext cx="554069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Recupero del Contrasto</a:t>
            </a:r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581025" y="2538412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DeepWatch adotta l'algoritmo CLAHE (Contrast Limited Adaptive Histogram Equalization) convertendo il frame dallo spazio RGB allo spazio LAB.</a:t>
            </a:r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581025" y="3595687"/>
            <a:ext cx="52768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Questo permette di incrementare unicamente la luminanza senza alterare o sfalsare le informazioni cromatiche, offrendo all'IA immagini nitide ed elaborate in tempo reale senza amplificare il rumore locale.</a:t>
            </a:r>
            <a:endParaRPr/>
          </a:p>
        </p:txBody>
      </p:sp>
      <p:pic>
        <p:nvPicPr>
          <p:cNvPr descr="image.png" id="162" name="Google Shape;16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52637"/>
            <a:ext cx="52578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Soluzione: Elaborazione CLAHE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481089"/>
            <a:ext cx="11029950" cy="203894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1"/>
          <p:cNvSpPr txBox="1"/>
          <p:nvPr/>
        </p:nvSpPr>
        <p:spPr>
          <a:xfrm>
            <a:off x="2286000" y="2185689"/>
            <a:ext cx="7620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L'algoritmo ridistribuisce matematicamente le probabilità dei pixel basandosi sulla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Funzione di Ripartizione (CDF)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Rimappa l'istogramma dell'immagine limitando artificialmente i picchi di frequenza per prevenire il rumore digitale.</a:t>
            </a:r>
            <a:endParaRPr/>
          </a:p>
        </p:txBody>
      </p:sp>
      <p:pic>
        <p:nvPicPr>
          <p:cNvPr descr="image.png" id="171" name="Google Shape;17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90589" y="3966864"/>
            <a:ext cx="5610671" cy="106739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1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Il Cuore Matematico di CLAHE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85950"/>
            <a:ext cx="3422600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4625" y="1885950"/>
            <a:ext cx="3422600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88225" y="1885950"/>
            <a:ext cx="34226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2"/>
          <p:cNvSpPr txBox="1"/>
          <p:nvPr/>
        </p:nvSpPr>
        <p:spPr>
          <a:xfrm>
            <a:off x="2776537" y="5372100"/>
            <a:ext cx="6638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Vantaggio Enterprise: Zero Vendor Lock-in sui componenti hardware.</a:t>
            </a:r>
            <a:endParaRPr/>
          </a:p>
        </p:txBody>
      </p:sp>
      <p:pic>
        <p:nvPicPr>
          <p:cNvPr descr="image.png" id="182" name="Google Shape;182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76537" y="542925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2"/>
          <p:cNvSpPr txBox="1"/>
          <p:nvPr/>
        </p:nvSpPr>
        <p:spPr>
          <a:xfrm>
            <a:off x="1212115" y="2933700"/>
            <a:ext cx="216027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NVIDIA CUDA</a:t>
            </a:r>
            <a:endParaRPr/>
          </a:p>
        </p:txBody>
      </p:sp>
      <p:sp>
        <p:nvSpPr>
          <p:cNvPr id="184" name="Google Shape;184;p22"/>
          <p:cNvSpPr txBox="1"/>
          <p:nvPr/>
        </p:nvSpPr>
        <p:spPr>
          <a:xfrm>
            <a:off x="876300" y="3429000"/>
            <a:ext cx="28320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Supporto nativo per le GPU aziendali standard ad altissime prestazioni per calcoli in virgola mobile veloci.</a:t>
            </a:r>
            <a:endParaRPr/>
          </a:p>
        </p:txBody>
      </p:sp>
      <p:sp>
        <p:nvSpPr>
          <p:cNvPr id="185" name="Google Shape;185;p22"/>
          <p:cNvSpPr txBox="1"/>
          <p:nvPr/>
        </p:nvSpPr>
        <p:spPr>
          <a:xfrm>
            <a:off x="4950708" y="2933700"/>
            <a:ext cx="229028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AMD DirectML</a:t>
            </a:r>
            <a:endParaRPr/>
          </a:p>
        </p:txBody>
      </p:sp>
      <p:sp>
        <p:nvSpPr>
          <p:cNvPr id="186" name="Google Shape;186;p22"/>
          <p:cNvSpPr txBox="1"/>
          <p:nvPr/>
        </p:nvSpPr>
        <p:spPr>
          <a:xfrm>
            <a:off x="4679900" y="3429000"/>
            <a:ext cx="28320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Integrazione multi-piattaforma per ecosistemi server che non si affidano a schede grafiche proprietarie.</a:t>
            </a:r>
            <a:endParaRPr/>
          </a:p>
        </p:txBody>
      </p:sp>
      <p:sp>
        <p:nvSpPr>
          <p:cNvPr id="187" name="Google Shape;187;p22"/>
          <p:cNvSpPr txBox="1"/>
          <p:nvPr/>
        </p:nvSpPr>
        <p:spPr>
          <a:xfrm>
            <a:off x="8954333" y="2933700"/>
            <a:ext cx="189023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Apple Metal</a:t>
            </a:r>
            <a:endParaRPr/>
          </a:p>
        </p:txBody>
      </p:sp>
      <p:sp>
        <p:nvSpPr>
          <p:cNvPr id="188" name="Google Shape;188;p22"/>
          <p:cNvSpPr txBox="1"/>
          <p:nvPr/>
        </p:nvSpPr>
        <p:spPr>
          <a:xfrm>
            <a:off x="8483500" y="3429000"/>
            <a:ext cx="28320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Piena compatibilità con l'architettura ARM, garantendo esecuzioni ottimali anche su macchine di controllo Mac.</a:t>
            </a:r>
            <a:endParaRPr/>
          </a:p>
        </p:txBody>
      </p:sp>
      <p:pic>
        <p:nvPicPr>
          <p:cNvPr descr="image.png" id="189" name="Google Shape;189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63650" y="22288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67251" y="22288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613701" y="2228850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2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Astrazione Hardware Totale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05012"/>
            <a:ext cx="5276850" cy="3695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05012"/>
            <a:ext cx="5276850" cy="369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3"/>
          <p:cNvSpPr txBox="1"/>
          <p:nvPr/>
        </p:nvSpPr>
        <p:spPr>
          <a:xfrm>
            <a:off x="859154" y="2395537"/>
            <a:ext cx="472059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Il Limite Relazionale (SQL)</a:t>
            </a:r>
            <a:endParaRPr/>
          </a:p>
        </p:txBody>
      </p:sp>
      <p:sp>
        <p:nvSpPr>
          <p:cNvPr id="201" name="Google Shape;201;p23"/>
          <p:cNvSpPr txBox="1"/>
          <p:nvPr/>
        </p:nvSpPr>
        <p:spPr>
          <a:xfrm>
            <a:off x="971550" y="2890837"/>
            <a:ext cx="449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DBMS classici come MySQL impongono schemi rigidi a tabelle.</a:t>
            </a:r>
            <a:endParaRPr/>
          </a:p>
        </p:txBody>
      </p:sp>
      <p:sp>
        <p:nvSpPr>
          <p:cNvPr id="202" name="Google Shape;202;p23"/>
          <p:cNvSpPr txBox="1"/>
          <p:nvPr/>
        </p:nvSpPr>
        <p:spPr>
          <a:xfrm>
            <a:off x="971550" y="3643312"/>
            <a:ext cx="44958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Quando si devono registrare coordinate poligonali variabili, bounding boxes 3D e decine di rilevamenti al secondo, l'SQL genera severi colli di bottiglia e costi enormi in fase di normalizzazione dati.</a:t>
            </a:r>
            <a:endParaRPr/>
          </a:p>
        </p:txBody>
      </p:sp>
      <p:sp>
        <p:nvSpPr>
          <p:cNvPr id="203" name="Google Shape;203;p23"/>
          <p:cNvSpPr txBox="1"/>
          <p:nvPr/>
        </p:nvSpPr>
        <p:spPr>
          <a:xfrm>
            <a:off x="6612255" y="2395537"/>
            <a:ext cx="472059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La Soluzione NoSQL</a:t>
            </a:r>
            <a:endParaRPr/>
          </a:p>
        </p:txBody>
      </p:sp>
      <p:sp>
        <p:nvSpPr>
          <p:cNvPr id="204" name="Google Shape;204;p23"/>
          <p:cNvSpPr txBox="1"/>
          <p:nvPr/>
        </p:nvSpPr>
        <p:spPr>
          <a:xfrm>
            <a:off x="6724650" y="2890837"/>
            <a:ext cx="449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L'approccio "Document-Oriented" salva i dati in agili oggetti JSON/BSON flessibili e autodescrittivi.</a:t>
            </a:r>
            <a:endParaRPr/>
          </a:p>
        </p:txBody>
      </p:sp>
      <p:sp>
        <p:nvSpPr>
          <p:cNvPr id="205" name="Google Shape;205;p23"/>
          <p:cNvSpPr txBox="1"/>
          <p:nvPr/>
        </p:nvSpPr>
        <p:spPr>
          <a:xfrm>
            <a:off x="6724650" y="3948112"/>
            <a:ext cx="4495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DeepWatch mappa direttamente gli output complessi del modello IA nei documenti del database, annullando il ritardo di traduzione strutturale.</a:t>
            </a:r>
            <a:endParaRPr/>
          </a:p>
        </p:txBody>
      </p:sp>
      <p:sp>
        <p:nvSpPr>
          <p:cNvPr id="206" name="Google Shape;206;p23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Database dei Log Video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4"/>
          <p:cNvSpPr txBox="1"/>
          <p:nvPr/>
        </p:nvSpPr>
        <p:spPr>
          <a:xfrm>
            <a:off x="1809750" y="2581275"/>
            <a:ext cx="904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Struttura Dinamica: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Nessuno schema rigido. Possibilità per l'azienda di espandere i parametri di rilevamento nel tempo senza migrazioni distruttive dei database preesistenti.</a:t>
            </a:r>
            <a:endParaRPr/>
          </a:p>
        </p:txBody>
      </p:sp>
      <p:sp>
        <p:nvSpPr>
          <p:cNvPr id="213" name="Google Shape;213;p24"/>
          <p:cNvSpPr txBox="1"/>
          <p:nvPr/>
        </p:nvSpPr>
        <p:spPr>
          <a:xfrm>
            <a:off x="1809750" y="3429000"/>
            <a:ext cx="904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Motore Beanie ODM: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Implementazione di scritture e letture asincrone non bloccanti (AsyncIO). I log della sicurezza vengono scritti ad alta frequenza senza mai impattare l'interfaccia.</a:t>
            </a:r>
            <a:endParaRPr/>
          </a:p>
        </p:txBody>
      </p:sp>
      <p:sp>
        <p:nvSpPr>
          <p:cNvPr id="214" name="Google Shape;214;p24"/>
          <p:cNvSpPr txBox="1"/>
          <p:nvPr/>
        </p:nvSpPr>
        <p:spPr>
          <a:xfrm>
            <a:off x="1809750" y="4276725"/>
            <a:ext cx="904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Big Data Ready: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Le architetture aziendali generano gigabyte di log al giorno. MongoDB garantisce sharding e scalabilità orizzontale nativa in cluster remoti distribuiti.</a:t>
            </a:r>
            <a:endParaRPr/>
          </a:p>
        </p:txBody>
      </p:sp>
      <p:pic>
        <p:nvPicPr>
          <p:cNvPr descr="image.png" id="215" name="Google Shape;21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595562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3443287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4291012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4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Scalabilità con MongoDB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5"/>
          <p:cNvSpPr/>
          <p:nvPr/>
        </p:nvSpPr>
        <p:spPr>
          <a:xfrm>
            <a:off x="5715000" y="2418457"/>
            <a:ext cx="76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5"/>
          <p:cNvSpPr txBox="1"/>
          <p:nvPr/>
        </p:nvSpPr>
        <p:spPr>
          <a:xfrm>
            <a:off x="3130629" y="2742307"/>
            <a:ext cx="593074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Pronti per il Futuro</a:t>
            </a:r>
            <a:endParaRPr/>
          </a:p>
        </p:txBody>
      </p:sp>
      <p:sp>
        <p:nvSpPr>
          <p:cNvPr id="226" name="Google Shape;226;p25"/>
          <p:cNvSpPr txBox="1"/>
          <p:nvPr/>
        </p:nvSpPr>
        <p:spPr>
          <a:xfrm>
            <a:off x="2286000" y="3628132"/>
            <a:ext cx="7620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DeepWatch fonde inferenza neurale, architetture concorrenti e persistenza scalabile NoSQL in un sistema enterprise reattivo, solido e pronto all'uso.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