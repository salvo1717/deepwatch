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80606C-3BEC-40D6-89D6-C43EC5392DC7}">
  <a:tblStyle styleId="{4A80606C-3BEC-40D6-89D6-C43EC5392D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.fntdata"/><Relationship Id="rId10" Type="http://schemas.openxmlformats.org/officeDocument/2006/relationships/slide" Target="slides/slide4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4eff37b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84eff37b5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.png"/><Relationship Id="rId11" Type="http://schemas.openxmlformats.org/officeDocument/2006/relationships/image" Target="../media/image21.png"/><Relationship Id="rId10" Type="http://schemas.openxmlformats.org/officeDocument/2006/relationships/image" Target="../media/image4.png"/><Relationship Id="rId21" Type="http://schemas.openxmlformats.org/officeDocument/2006/relationships/image" Target="../media/image6.png"/><Relationship Id="rId13" Type="http://schemas.openxmlformats.org/officeDocument/2006/relationships/image" Target="../media/image26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Relationship Id="rId15" Type="http://schemas.openxmlformats.org/officeDocument/2006/relationships/image" Target="../media/image2.png"/><Relationship Id="rId14" Type="http://schemas.openxmlformats.org/officeDocument/2006/relationships/image" Target="../media/image13.png"/><Relationship Id="rId17" Type="http://schemas.openxmlformats.org/officeDocument/2006/relationships/image" Target="../media/image17.png"/><Relationship Id="rId16" Type="http://schemas.openxmlformats.org/officeDocument/2006/relationships/image" Target="../media/image36.png"/><Relationship Id="rId5" Type="http://schemas.openxmlformats.org/officeDocument/2006/relationships/image" Target="../media/image7.png"/><Relationship Id="rId19" Type="http://schemas.openxmlformats.org/officeDocument/2006/relationships/image" Target="../media/image20.png"/><Relationship Id="rId6" Type="http://schemas.openxmlformats.org/officeDocument/2006/relationships/image" Target="../media/image3.png"/><Relationship Id="rId18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38.png"/><Relationship Id="rId7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40.png"/><Relationship Id="rId7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9.jp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9683"/>
            <a:ext cx="11049000" cy="1929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54958"/>
            <a:ext cx="2057400" cy="1634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9400" y="3954958"/>
            <a:ext cx="2057400" cy="1634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67300" y="3954958"/>
            <a:ext cx="2057400" cy="1634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3954958"/>
            <a:ext cx="2057400" cy="16341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63100" y="3954958"/>
            <a:ext cx="2057400" cy="163413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665696" y="1268908"/>
            <a:ext cx="486060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DEEPWATCH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56949" y="2108500"/>
            <a:ext cx="747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 di analisi neurale H24 per il rilevamento autonomo di intrusioni.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5619738" y="2677771"/>
            <a:ext cx="9525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90937" y="3031033"/>
            <a:ext cx="10668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00612" y="3031033"/>
            <a:ext cx="12192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62687" y="3031033"/>
            <a:ext cx="9334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39012" y="3031033"/>
            <a:ext cx="11620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52862" y="311199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62537" y="311199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24612" y="311199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00937" y="311199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33512" y="417403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1069181" y="4555033"/>
            <a:ext cx="10620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INFORMATICA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714375" y="4850308"/>
            <a:ext cx="177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Integrazione di YOLOv8 per l'inferenza spaziale e persistenza su DB NoSQL</a:t>
            </a:r>
            <a:endParaRPr/>
          </a:p>
        </p:txBody>
      </p:sp>
      <p:pic>
        <p:nvPicPr>
          <p:cNvPr descr="image.png" id="105" name="Google Shape;105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681412" y="4174033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3286125" y="4555033"/>
            <a:ext cx="1123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SISTEMI E RETI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962275" y="4850308"/>
            <a:ext cx="177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Gestione di flussi video IP di rete e ottimizzazione su acceleratori hardware</a:t>
            </a:r>
            <a:endParaRPr/>
          </a:p>
        </p:txBody>
      </p:sp>
      <p:pic>
        <p:nvPicPr>
          <p:cNvPr descr="image.png" id="108" name="Google Shape;108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943600" y="417403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5581650" y="4555033"/>
            <a:ext cx="1028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MATEMATICA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210175" y="4850308"/>
            <a:ext cx="177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Applicazione della funzione di ripartizione e l'algoritmo ottico CLAHE</a:t>
            </a:r>
            <a:endParaRPr/>
          </a:p>
        </p:txBody>
      </p:sp>
      <p:pic>
        <p:nvPicPr>
          <p:cNvPr descr="image.png" id="111" name="Google Shape;111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210550" y="41740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8124825" y="4555033"/>
            <a:ext cx="438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T.D.P.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458075" y="4850308"/>
            <a:ext cx="177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Programmazione asincrona concorrente e sincronizzazione thread-safe</a:t>
            </a:r>
            <a:endParaRPr/>
          </a:p>
        </p:txBody>
      </p:sp>
      <p:pic>
        <p:nvPicPr>
          <p:cNvPr descr="image.png" id="114" name="Google Shape;114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0458450" y="41740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10315575" y="4555033"/>
            <a:ext cx="552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G.P.O.I.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9705975" y="4850308"/>
            <a:ext cx="1771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Pianificazione dei costi cloud, sharding del database e ROI aziendale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528637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81225"/>
            <a:ext cx="528637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866775" y="2990850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Sistemi Tradizionali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629400" y="2990850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Approccio DeepWatch</a:t>
            </a:r>
            <a:endParaRPr/>
          </a:p>
        </p:txBody>
      </p:sp>
      <p:pic>
        <p:nvPicPr>
          <p:cNvPr descr="image.png" id="126" name="Google Shape;12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5336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1152525" y="34742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247775" y="3476625"/>
            <a:ext cx="431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Saturazione Cognitiva: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Rapido calo della soglia d'attenzione degli operatori.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152525" y="396001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247775" y="3962400"/>
            <a:ext cx="431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Analisi Reattiva: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Consultazione passiva del filmato solo a seguito dell'evento.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152525" y="444579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247775" y="4448175"/>
            <a:ext cx="431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Costi di Scalabilità: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Difficoltà operative nell'estensione a flussi multipli.</a:t>
            </a:r>
            <a:endParaRPr/>
          </a:p>
        </p:txBody>
      </p:sp>
      <p:pic>
        <p:nvPicPr>
          <p:cNvPr descr="image.png" id="133" name="Google Shape;13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5336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6915150" y="34742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7010400" y="3476625"/>
            <a:ext cx="431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Monitoraggio H24: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Rilevamento continuo basato su intelligenza artificiale.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915150" y="396001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7010400" y="3962400"/>
            <a:ext cx="431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Risposta Proattiva: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Notifiche d'allarme immediate inviate alla control room.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6915150" y="444579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7010400" y="4448175"/>
            <a:ext cx="431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Architettura Integrata: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Analisi simultanea e autonoma di flussi concorrenti.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IL PARADIGMA DELLA SICUREZZA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1455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7962" y="381000"/>
            <a:ext cx="125253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71500" y="2809837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Riconoscimento in Tempo Reale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71500" y="3290887"/>
            <a:ext cx="5286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DeepWatch integra il modello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Only Look Once (v8)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 identificare sagome umane e veicoli entro l'area monitorata.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71500" y="3890962"/>
            <a:ext cx="5286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L'architettura garantisce una precisione millimetrica con latenze medie inferiori ai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20ms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 singolo fotogramma.</a:t>
            </a:r>
            <a:endParaRPr/>
          </a:p>
        </p:txBody>
      </p:sp>
      <p:pic>
        <p:nvPicPr>
          <p:cNvPr descr="image.png" id="152" name="Google Shape;1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12407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INFERENZA SPAZIALE: YOLOV8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5575" y="381000"/>
            <a:ext cx="13049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181100"/>
            <a:ext cx="11049000" cy="52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571500" y="4733925"/>
            <a:ext cx="11049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Efficienza relativa normalizzata tramite tecniche di quantizzazione dei modelli (FP16/INT8) e conversione in formati di rappresentazione intermedia (IR).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EFFICIENZA DEI MOTORI DI INFERENZA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5068"/>
            <a:ext cx="54292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455068"/>
            <a:ext cx="54292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15650" y="381000"/>
            <a:ext cx="704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4750593"/>
            <a:ext cx="11049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cooperazione asincrona assicura un'operatività H24 senza interruzioni di flusso.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66775" y="3236118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Thread Principale (UI)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66775" y="3569493"/>
            <a:ext cx="4838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Gestisce l'interfaccia utente (PyQt6) assicurando fluidità e reattività ai comandi dell'operatore di sicurezza.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486525" y="3236118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Worker Thread (AI)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486525" y="3569493"/>
            <a:ext cx="4838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Isola i pesanti processi computazionali legati all'inferenza della rete neurale impedendo freeze applicativi.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778918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77891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PROGETTAZIONE CONCORRENTE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title="shutterstock_300344546-6.jpg"/>
          <p:cNvPicPr preferRelativeResize="0"/>
          <p:nvPr/>
        </p:nvPicPr>
        <p:blipFill rotWithShape="1">
          <a:blip r:embed="rId4">
            <a:alphaModFix/>
          </a:blip>
          <a:srcRect b="4955" l="0" r="0" t="4955"/>
          <a:stretch/>
        </p:blipFill>
        <p:spPr>
          <a:xfrm>
            <a:off x="363450" y="2466963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15575" y="381000"/>
            <a:ext cx="13049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6334125" y="2802137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Gestione Distribuita IP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334125" y="3290887"/>
            <a:ext cx="528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 canali video IP/RTSP non visualizzati a schermo vengono delegati a processi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Daemon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background, minimizzando l'uso della CPU.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334125" y="3890962"/>
            <a:ext cx="528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 strutture dati concorrenti proteggono lo scambio di frame impedendo corruzioni di memoria o fenomeni di </a:t>
            </a:r>
            <a:r>
              <a:rPr b="0" i="1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race condition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INFRASTRUTTURA MULTI-STREAM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1455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01300" y="381000"/>
            <a:ext cx="1219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2543800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Rumore Elettronico Notturno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3048000"/>
            <a:ext cx="528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maggior parte delle violazioni perimetrali avviene in condizioni di scarsa visibilità, inducendo i sensori digitali ad aumentare il guadagno.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3890962"/>
            <a:ext cx="528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Il rumore di fondo altera drasticamente l'istogramma dei pixel, riducendo l'accuratezza del motore neurale e aumentando il rischio di falsi negativi.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12407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LA CRITICITÀ AMBIENTALE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21818"/>
            <a:ext cx="5286375" cy="1128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01300" y="381000"/>
            <a:ext cx="1219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369468"/>
            <a:ext cx="4791075" cy="6334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6334125" y="262857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Algoritmo CLAHE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334125" y="3048000"/>
            <a:ext cx="528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 ripristinare il contrasto locale senza esaltare il rumore complessivo, DeepWatch converte l'immagine nello spazio colore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334125" y="3890962"/>
            <a:ext cx="528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Applicando l'equalizzazione dei livelli basata sulla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CDF (Cumulative Distribution Function)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sul solo canale della luminanza, l'IA rileva i soggetti anche nel buio.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LA FUNZIONE DI RIPARTIZIONE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962" y="381000"/>
            <a:ext cx="1252537" cy="285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1"/>
          <p:cNvGraphicFramePr/>
          <p:nvPr/>
        </p:nvGraphicFramePr>
        <p:xfrm>
          <a:off x="5715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{4A80606C-3BEC-40D6-89D6-C43EC5392DC7}</a:tableStyleId>
              </a:tblPr>
              <a:tblGrid>
                <a:gridCol w="1771200"/>
                <a:gridCol w="4413650"/>
                <a:gridCol w="4864150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 Tradizionale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DeepWatch (MongoDB)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Struttura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Schemi tabellari rigidi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Documenti JSON/BSON flessibili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Overhead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JOIN costose a runtime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Scrittura diretta dei metadati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Velocità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Colli di bottiglia ad alta frequenza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Scrittura log asincrona (Beanie ODM)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1"/>
          <p:cNvSpPr/>
          <p:nvPr/>
        </p:nvSpPr>
        <p:spPr>
          <a:xfrm>
            <a:off x="571500" y="3152775"/>
            <a:ext cx="1771203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342703" y="3152775"/>
            <a:ext cx="4413646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756350" y="3152775"/>
            <a:ext cx="4864149" cy="285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71500" y="3776662"/>
            <a:ext cx="1771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342703" y="3776662"/>
            <a:ext cx="44136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756350" y="3776662"/>
            <a:ext cx="48641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4371975"/>
            <a:ext cx="1771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342703" y="4371975"/>
            <a:ext cx="44136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756350" y="4371975"/>
            <a:ext cx="48641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4967287"/>
            <a:ext cx="17712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342703" y="4967287"/>
            <a:ext cx="44136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756350" y="4967287"/>
            <a:ext cx="486414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INFRASTRUTTURA NOSQL MONGODB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1455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381000"/>
            <a:ext cx="8001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71500" y="255922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Infrastruttura Scalabile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71500" y="3048000"/>
            <a:ext cx="528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persistenza flessibile consente di memorizzare le coordinate delle </a:t>
            </a:r>
            <a:r>
              <a:rPr b="0" i="1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bounding box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generate dall'IA senza modificare lo schema logico del database.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571500" y="3890962"/>
            <a:ext cx="528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scalabilità orizzontale nativa (MongoDB Sharding) prepara l'ecosistema aziendale alla gestione di grandi volumi di dati di sicurezza (Big Data).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12407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762000" y="476250"/>
            <a:ext cx="114014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OTTIMIZZAZIONE DELLE RISORSE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71500" y="476250"/>
            <a:ext cx="47625" cy="3714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295275" y="2259508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DeepWatch Enterprise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2047875" y="3126283"/>
            <a:ext cx="809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L'unione coordinata tra calcolo asincrono concorrente, reti neurali a singola inferenza spaziale ed elasticità NoSQL traccia la nuova rotta della videosorveglianza proattiva in ambito industriale.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524500" y="4259866"/>
            <a:ext cx="1143000" cy="38100"/>
          </a:xfrm>
          <a:prstGeom prst="roundRect">
            <a:avLst>
              <a:gd fmla="val 50000" name="adj"/>
            </a:avLst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